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0">
                <a:solidFill>
                  <a:srgbClr val="D2DCEB"/>
                </a:solidFill>
                <a:latin typeface="Aptos"/>
              </a:defRPr>
            </a:pPr>
            <a:r>
              <a:t>Variables • Data Types • Input • Output •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2A0B4"/>
                </a:solidFill>
                <a:latin typeface="Aptos"/>
              </a:defRPr>
            </a:pPr>
            <a:r>
              <a:t>Practice-first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What you should be able to do after this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Create, update, and use variables.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6479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Recognize int, float, str, and bool.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6479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Display information using print().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822191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Read user input and convert types.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822191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Perform common arithmetic operations.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822191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Build small interactive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1.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A variable is a name used to refer to a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154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Python uses = for assignment.</a:t>
            </a:r>
            <a:br/>
            <a:br/>
            <a:r>
              <a:t>The type does not need to be declared separately.</a:t>
            </a:r>
            <a:br/>
            <a:br/>
            <a:r>
              <a:t>Use meaningful names such as name, age, price, and cgpa.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17320"/>
            <a:ext cx="6629400" cy="42976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645920"/>
            <a:ext cx="61264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BF1F9"/>
                </a:solidFill>
                <a:latin typeface="Cascadia Mono"/>
              </a:defRPr>
            </a:pPr>
            <a:r>
              <a:t>name = "Yohan"</a:t>
            </a:r>
            <a:br/>
            <a:r>
              <a:t>age = 22</a:t>
            </a:r>
            <a:br/>
            <a:r>
              <a:t>cgpa = 8.56</a:t>
            </a:r>
            <a:br/>
            <a:r>
              <a:t>is_student =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2. Common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objects have types that determine what operations they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C63DC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Whole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age =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64592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2A0B4"/>
                </a:solidFill>
                <a:latin typeface="Aptos"/>
              </a:defRPr>
            </a:pPr>
            <a:r>
              <a:t>float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6459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Decimal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286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cgpa = 8.56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59162"/>
                </a:solidFill>
                <a:latin typeface="Aptos"/>
              </a:defRPr>
            </a:pPr>
            <a:r>
              <a:t>str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8862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262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name = "Yohan"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88620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DC7E28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8862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True /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5262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is_student =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3. Checking a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Use type() when you want to inspect the type of a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57784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0749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BF1F9"/>
                </a:solidFill>
                <a:latin typeface="Cascadia Mono"/>
              </a:defRPr>
            </a:pPr>
            <a:r>
              <a:t>name = "Yohan"</a:t>
            </a:r>
            <a:br/>
            <a:r>
              <a:t>age = 22</a:t>
            </a:r>
            <a:br/>
            <a:r>
              <a:t>cgpa = 8.56</a:t>
            </a:r>
            <a:br/>
            <a:br/>
            <a:r>
              <a:t>print(type(name))</a:t>
            </a:r>
            <a:br/>
            <a:r>
              <a:t>print(type(age))</a:t>
            </a:r>
            <a:br/>
            <a:r>
              <a:t>print(type(cgpa))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17320"/>
            <a:ext cx="4480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41732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59" y="1673352"/>
            <a:ext cx="3977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2167128"/>
            <a:ext cx="3977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When a program behaves unexpectedly, checking the type can reveal the problem.</a:t>
            </a:r>
            <a:br/>
            <a:br/>
            <a:r>
              <a:t>For example, input() returns text even when the user enters a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4. Output with print()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Display values in the console.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62940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8907" y="1856232"/>
            <a:ext cx="6556603" cy="22656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700">
                <a:solidFill>
                  <a:srgbClr val="EBF1F9"/>
                </a:solidFill>
                <a:latin typeface="Cascadia Mono"/>
              </a:defRPr>
            </a:pPr>
            <a:r>
              <a:rPr sz="1600" dirty="0"/>
              <a:t>name = "Yohan"</a:t>
            </a:r>
            <a:br>
              <a:rPr sz="1600" dirty="0"/>
            </a:br>
            <a:r>
              <a:rPr sz="1600" dirty="0"/>
              <a:t>age = 22</a:t>
            </a:r>
            <a:br>
              <a:rPr sz="1600" dirty="0"/>
            </a:br>
            <a:br>
              <a:rPr sz="1600" dirty="0"/>
            </a:br>
            <a:r>
              <a:rPr sz="1600" dirty="0"/>
              <a:t>print(name)</a:t>
            </a:r>
            <a:br>
              <a:rPr sz="1600" dirty="0"/>
            </a:br>
            <a:r>
              <a:rPr sz="1600" dirty="0"/>
              <a:t>print("Age:", age)</a:t>
            </a:r>
            <a:br>
              <a:rPr sz="1600" dirty="0"/>
            </a:br>
            <a:r>
              <a:rPr sz="1600" dirty="0"/>
              <a:t>print(</a:t>
            </a:r>
            <a:r>
              <a:rPr sz="1600" dirty="0" err="1"/>
              <a:t>f"My</a:t>
            </a:r>
            <a:r>
              <a:rPr sz="1600" dirty="0"/>
              <a:t> name is {name} and I am {age} years old.")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6733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f-strings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167128"/>
            <a:ext cx="29718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rPr dirty="0"/>
              <a:t>Formatted string literals start with f.</a:t>
            </a:r>
            <a:br>
              <a:rPr dirty="0"/>
            </a:br>
            <a:br>
              <a:rPr dirty="0"/>
            </a:br>
            <a:r>
              <a:rPr dirty="0"/>
              <a:t>Put expressions inside { } to insert values directly into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5. User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Read data entered by the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794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4348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291840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input() returns a string.</a:t>
            </a:r>
            <a:br/>
            <a:br/>
            <a:r>
              <a:t>If you need a number, convert it with int() or float().</a:t>
            </a:r>
            <a:br/>
            <a:br/>
            <a:r>
              <a:t>This distinction is essential for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417320"/>
            <a:ext cx="6492240" cy="44348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1417320"/>
            <a:ext cx="73152" cy="4434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645920"/>
            <a:ext cx="5989320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BF1F9"/>
                </a:solidFill>
                <a:latin typeface="Cascadia Mono"/>
              </a:defRPr>
            </a:pPr>
            <a:r>
              <a:t>name = input("Enter your name: ")</a:t>
            </a:r>
            <a:br/>
            <a:r>
              <a:t>age = int(input("Enter your age: "))</a:t>
            </a:r>
            <a:br/>
            <a:r>
              <a:t>cgpa = float(input("Enter your CGPA: "))</a:t>
            </a:r>
            <a:br/>
            <a:br/>
            <a:r>
              <a:t>print(f"Hello, {name}!")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6. Type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Convert values when your program needs a different 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2"/>
            <a:ext cx="2834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int()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2834639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Converts a suitable value to an integer.</a:t>
            </a:r>
            <a:br/>
            <a:br/>
            <a:r>
              <a:t>Example:</a:t>
            </a:r>
            <a:br/>
            <a:r>
              <a:t>int("25") →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9768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673352"/>
            <a:ext cx="2834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float()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167128"/>
            <a:ext cx="2834639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Converts a suitable value to a floating-point number.</a:t>
            </a:r>
            <a:br/>
            <a:br/>
            <a:r>
              <a:t>Example:</a:t>
            </a:r>
            <a:br/>
            <a:r>
              <a:t>float("8.56") → 8.56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42976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73352"/>
            <a:ext cx="2834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str()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67128"/>
            <a:ext cx="2834639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Converts a value to text.</a:t>
            </a:r>
            <a:br/>
            <a:br/>
            <a:r>
              <a:t>Example:</a:t>
            </a:r>
            <a:br/>
            <a:r>
              <a:t>str(25) → "25"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7. Arithmetic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core operators you will use constantly.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Addition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+ 3 =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84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Subtraction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8424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10 - 3 =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42615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42615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Multiplication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42615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* 3 =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0098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30098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Division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0098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/ 3 = 3.333...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593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Floor division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5935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// 3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617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Remainder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17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10 % 3 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7608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C63DC"/>
                </a:solidFill>
                <a:latin typeface="Cascadia Mono"/>
              </a:defRPr>
            </a:pPr>
            <a:r>
              <a:t>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2334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7608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667080"/>
                </a:solidFill>
                <a:latin typeface="Cascadia Mono"/>
              </a:defRPr>
            </a:pPr>
            <a:r>
              <a:t>10 ** 3 = 1000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/ vs //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Both divide, but they produce different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41148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4617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/  Normal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46177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Returns the quotient as a floating-point result.</a:t>
            </a:r>
            <a:br/>
            <a:br/>
            <a:r>
              <a:t>10 / 3 → 3.333333...</a:t>
            </a:r>
            <a:br/>
            <a:br/>
            <a:r>
              <a:t>Use it when you want regular division.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73152" cy="41148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64792"/>
            <a:ext cx="4617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//  Floor 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58568"/>
            <a:ext cx="46177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Rounds the quotient down to the floor.</a:t>
            </a:r>
            <a:br/>
            <a:br/>
            <a:r>
              <a:t>10 // 3 → 3</a:t>
            </a:r>
            <a:br/>
            <a:br/>
            <a:r>
              <a:t>Use it when you need floor division.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8. Mini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Combining input, conversion, arithmetic, and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6583680" cy="45262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73152" cy="45262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6080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BF1F9"/>
                </a:solidFill>
                <a:latin typeface="Cascadia Mono"/>
              </a:defRPr>
            </a:pPr>
            <a:r>
              <a:t>name = input("Enter your name: ")</a:t>
            </a:r>
            <a:br/>
            <a:r>
              <a:t>price = float(input("Enter price: "))</a:t>
            </a:r>
            <a:br/>
            <a:r>
              <a:t>quantity = int(input("Enter quantity: "))</a:t>
            </a:r>
            <a:br/>
            <a:br/>
            <a:r>
              <a:t>total = price * quantity</a:t>
            </a:r>
            <a:br/>
            <a:br/>
            <a:r>
              <a:t>print(f"Customer: {name}")</a:t>
            </a:r>
            <a:br/>
            <a:r>
              <a:t>print(f"Total: ₹{total:.2f}")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80960" y="1371600"/>
            <a:ext cx="73152" cy="45262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16276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What happened?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121408"/>
            <a:ext cx="292608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1. Read input</a:t>
            </a:r>
            <a:br/>
            <a:r>
              <a:t>2. Convert numeric values</a:t>
            </a:r>
            <a:br/>
            <a:r>
              <a:t>3. Calculate total</a:t>
            </a:r>
            <a:br/>
            <a:r>
              <a:t>4. Format the result</a:t>
            </a:r>
            <a:br/>
            <a:r>
              <a:t>5. Print the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Practice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Write the code yourself before checking examples.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Personal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variables for:</a:t>
            </a:r>
            <a:br/>
            <a:r>
              <a:t>• Name</a:t>
            </a:r>
            <a:br/>
            <a:r>
              <a:t>• Age</a:t>
            </a:r>
            <a:br/>
            <a:r>
              <a:t>• City</a:t>
            </a:r>
            <a:br/>
            <a:r>
              <a:t>• CGPA</a:t>
            </a:r>
            <a:br/>
            <a:r>
              <a:t>• Student status</a:t>
            </a:r>
            <a:br/>
            <a:br/>
            <a:r>
              <a:t>Print them in a readable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two numbers.</a:t>
            </a:r>
            <a:br/>
            <a:br/>
            <a:r>
              <a:t>Display:</a:t>
            </a:r>
            <a:br/>
            <a:r>
              <a:t>• Addition</a:t>
            </a:r>
            <a:br/>
            <a:r>
              <a:t>• Subtraction</a:t>
            </a:r>
            <a:br/>
            <a:r>
              <a:t>• Multiplication</a:t>
            </a:r>
            <a:br/>
            <a:r>
              <a:t>• Division</a:t>
            </a:r>
            <a:br/>
            <a:r>
              <a:t>• Remainder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Practice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Focus on input and calculations.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Age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 birth year.</a:t>
            </a:r>
            <a:br/>
            <a:br/>
            <a:r>
              <a:t>Calculate approximate age using:</a:t>
            </a:r>
            <a:br/>
            <a:br/>
            <a:r>
              <a:t>2026 - birth_year</a:t>
            </a:r>
            <a:br/>
            <a:br/>
            <a:r>
              <a:t>Print a readable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Simple Bill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Ask for:</a:t>
            </a:r>
            <a:br/>
            <a:r>
              <a:t>• Product name</a:t>
            </a:r>
            <a:br/>
            <a:r>
              <a:t>• Price</a:t>
            </a:r>
            <a:br/>
            <a:r>
              <a:t>• Quantity</a:t>
            </a:r>
            <a:br/>
            <a:br/>
            <a:r>
              <a:t>Calculate:</a:t>
            </a:r>
            <a:br/>
            <a:r>
              <a:t>total = price × quantity</a:t>
            </a:r>
            <a:br/>
            <a:br/>
            <a:r>
              <a:t>Bonus: show 2 decimal places.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Challenge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Student Marks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Ask for the student's name.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Ask for marks in Python, SQL, and Mathematics.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Calculate total marks.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Calculate average marks.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Print the result clearly.</a:t>
            </a:r>
          </a:p>
          <a:p>
            <a:pPr>
              <a:spcAft>
                <a:spcPts val="1000"/>
              </a:spcAft>
              <a:defRPr sz="1800">
                <a:solidFill>
                  <a:srgbClr val="2A323E"/>
                </a:solidFill>
                <a:latin typeface="Aptos"/>
              </a:defRPr>
            </a:pPr>
            <a:r>
              <a:t>Do not add grades yet — conditions come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3351" y="1746504"/>
            <a:ext cx="4905249" cy="19202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80200" y="1746504"/>
            <a:ext cx="87140" cy="19202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54520" y="1975104"/>
            <a:ext cx="4411456" cy="109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EBF1F9"/>
                </a:solidFill>
                <a:latin typeface="Cascadia Mono"/>
              </a:defRPr>
            </a:pPr>
            <a:r>
              <a:rPr dirty="0"/>
              <a:t>total = </a:t>
            </a:r>
            <a:endParaRPr lang="en-IN" dirty="0"/>
          </a:p>
          <a:p>
            <a:pPr>
              <a:lnSpc>
                <a:spcPct val="150000"/>
              </a:lnSpc>
              <a:defRPr sz="1500">
                <a:solidFill>
                  <a:srgbClr val="EBF1F9"/>
                </a:solidFill>
                <a:latin typeface="Cascadia Mono"/>
              </a:defRPr>
            </a:pPr>
            <a:r>
              <a:rPr dirty="0" err="1"/>
              <a:t>python_marks</a:t>
            </a:r>
            <a:r>
              <a:rPr dirty="0"/>
              <a:t> + </a:t>
            </a:r>
            <a:r>
              <a:rPr dirty="0" err="1"/>
              <a:t>sql_marks</a:t>
            </a:r>
            <a:r>
              <a:rPr dirty="0"/>
              <a:t> + </a:t>
            </a:r>
            <a:r>
              <a:rPr dirty="0" err="1"/>
              <a:t>math_marks</a:t>
            </a:r>
            <a:br>
              <a:rPr dirty="0"/>
            </a:br>
            <a:r>
              <a:rPr dirty="0"/>
              <a:t>average = total /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Catch these early and your Python will improve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334"/>
                </a:solidFill>
                <a:latin typeface="Aptos"/>
              </a:defRPr>
            </a:pPr>
            <a:r>
              <a:t>Forgetting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9047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C7E28"/>
                </a:solidFill>
                <a:latin typeface="Cascadia Mono"/>
              </a:defRPr>
            </a:pPr>
            <a:r>
              <a:t>age = input(...)  # age is str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49047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59162"/>
                </a:solidFill>
                <a:latin typeface="Aptos"/>
              </a:defRPr>
            </a:pPr>
            <a:r>
              <a:t>→ Use int(input(...))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96312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609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334"/>
                </a:solidFill>
                <a:latin typeface="Aptos"/>
              </a:defRPr>
            </a:pPr>
            <a:r>
              <a:t>Mixing text and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6090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C7E28"/>
                </a:solidFill>
                <a:latin typeface="Cascadia Mono"/>
              </a:defRPr>
            </a:pPr>
            <a:r>
              <a:t>"Age: " + 22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60904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59162"/>
                </a:solidFill>
                <a:latin typeface="Aptos"/>
              </a:defRPr>
            </a:pPr>
            <a:r>
              <a:t>→ Use f-strings or convert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66744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334"/>
                </a:solidFill>
                <a:latin typeface="Aptos"/>
              </a:defRPr>
            </a:pPr>
            <a:r>
              <a:t>Using / when // is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831335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C7E28"/>
                </a:solidFill>
                <a:latin typeface="Cascadia Mono"/>
              </a:defRPr>
            </a:pPr>
            <a:r>
              <a:t>10 /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31335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59162"/>
                </a:solidFill>
                <a:latin typeface="Aptos"/>
              </a:defRPr>
            </a:pPr>
            <a:r>
              <a:t>→ Choose the operator based on the requirement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37176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334"/>
                </a:solidFill>
                <a:latin typeface="Aptos"/>
              </a:defRPr>
            </a:pPr>
            <a:r>
              <a:t>Unclear variable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00176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C7E28"/>
                </a:solidFill>
                <a:latin typeface="Cascadia Mono"/>
              </a:defRPr>
            </a:pPr>
            <a:r>
              <a:t>x = 8.56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5001768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59162"/>
                </a:solidFill>
                <a:latin typeface="Aptos"/>
              </a:defRPr>
            </a:pPr>
            <a:r>
              <a:t>→ Prefer descriptive names such as cgpa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8D2E1"/>
                </a:solidFill>
                <a:latin typeface="Aptos"/>
              </a:defRPr>
            </a:pPr>
            <a:r>
              <a:t>You should now understand these building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Variables and assignment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int, float, str, and bool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type() and print()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input() and type conversion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Arithmetic operators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Small interactive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2A0B4"/>
                </a:solidFill>
                <a:latin typeface="Aptos"/>
              </a:defRPr>
            </a:pPr>
            <a:r>
              <a:t>Next → if / elif / else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20116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73352"/>
            <a:ext cx="101041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82334"/>
                </a:solidFill>
                <a:latin typeface="Aptos"/>
              </a:defRPr>
            </a:pPr>
            <a:r>
              <a:t>Python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1010411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the official documentation as your long-term reference for syntax, built-in types, input/output, operators, and language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C63DC"/>
                </a:solidFill>
                <a:latin typeface="Cascadia Mono"/>
              </a:defRPr>
            </a:pPr>
            <a:r>
              <a:t>docs.python.org/3/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72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67080"/>
                </a:solidFill>
                <a:latin typeface="Aptos"/>
              </a:defRPr>
            </a:pPr>
            <a:r>
              <a:t>Based on the official Python 3 documentation and tutorial.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1155</Words>
  <Application>Microsoft Office PowerPoint</Application>
  <PresentationFormat>Widescreen</PresentationFormat>
  <Paragraphs>161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Yohan Saji</cp:lastModifiedBy>
  <cp:revision>3</cp:revision>
  <dcterms:created xsi:type="dcterms:W3CDTF">2013-01-27T09:14:16Z</dcterms:created>
  <dcterms:modified xsi:type="dcterms:W3CDTF">2026-08-12T06:29:22Z</dcterms:modified>
  <cp:category/>
</cp:coreProperties>
</file>