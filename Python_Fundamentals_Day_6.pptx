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9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2A0B4"/>
                </a:solidFill>
                <a:latin typeface="Aptos"/>
              </a:defRPr>
            </a:pPr>
            <a:r>
              <a:t>PYTHON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ptos"/>
              </a:defRPr>
            </a:pPr>
            <a:r>
              <a:t>Day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D2DCEB"/>
                </a:solidFill>
                <a:latin typeface="Aptos"/>
              </a:defRPr>
            </a:pPr>
            <a:r>
              <a:t>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09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A0B4"/>
                </a:solidFill>
                <a:latin typeface="Aptos"/>
              </a:defRPr>
            </a:pPr>
            <a:r>
              <a:t>def • parameters • arguments • return • scope • reusable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By the end of Day 6, you should be able 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Define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Use def to create reusable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15087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Pass data into functions.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087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1508760"/>
            <a:ext cx="73152" cy="16916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Return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2585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Send results back to calling 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566160"/>
            <a:ext cx="73152" cy="169164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Arguments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Use positional and keyword arguments.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3566160"/>
            <a:ext cx="73152" cy="1691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Understand local and global variables.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56616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20" y="3566160"/>
            <a:ext cx="73152" cy="169164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40" y="379476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Compose 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4315968"/>
            <a:ext cx="2880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Combine functions with lists and dictionaries.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1. Why Do We Need Functions?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Functions prevent repeated code and make programs easier to maintain.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0749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38912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Without a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The same calculation may be copied into several places.</a:t>
            </a:r>
            <a:br/>
            <a:br/>
            <a:r>
              <a:t>That creates duplicated code and makes changes harder.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07492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572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onsolas"/>
              </a:defRPr>
            </a:pPr>
            <a:r>
              <a:t>def calculate_average(marks):</a:t>
            </a:r>
            <a:br/>
            <a:r>
              <a:t>    total = 0</a:t>
            </a:r>
            <a:br/>
            <a:br/>
            <a:r>
              <a:t>    for mark in marks:</a:t>
            </a:r>
            <a:br/>
            <a:r>
              <a:t>        total += mark</a:t>
            </a:r>
            <a:br/>
            <a:br/>
            <a:r>
              <a:t>    return total / len(marks)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2. What Is a Function?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reusable block of code designed to perform a particular 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59436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4406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BF1F9"/>
                </a:solidFill>
                <a:latin typeface="Consolas"/>
              </a:defRPr>
            </a:pPr>
            <a:r>
              <a:t>def greet():</a:t>
            </a:r>
            <a:br/>
            <a:r>
              <a:t>    print("Hello!")</a:t>
            </a:r>
            <a:br/>
            <a:br/>
            <a:r>
              <a:t># Call the function</a:t>
            </a:r>
            <a:br/>
            <a:r>
              <a:t>greet()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417320"/>
            <a:ext cx="397763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Function anatomy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67128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def → defines the function</a:t>
            </a:r>
            <a:br/>
            <a:r>
              <a:t>greet → function name</a:t>
            </a:r>
            <a:br/>
            <a:r>
              <a:t>() → parameters go here</a:t>
            </a:r>
            <a:br/>
            <a:r>
              <a:t>: → starts the block</a:t>
            </a:r>
            <a:br/>
            <a:br/>
            <a:r>
              <a:t>Indented statements belong to the function.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3. Defining vs Calling a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Defining a function does not execute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12648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62356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def greet():</a:t>
            </a:r>
            <a:br/>
            <a:r>
              <a:t>    print("Hello")</a:t>
            </a:r>
            <a:br/>
            <a:br/>
            <a:r>
              <a:t># Nothing printed yet</a:t>
            </a:r>
            <a:br/>
            <a:br/>
            <a:r>
              <a:t># Now call it</a:t>
            </a:r>
            <a:br/>
            <a:r>
              <a:t>greet()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417320"/>
            <a:ext cx="3794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69480" y="1417320"/>
            <a:ext cx="73152" cy="43891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167128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Define once.</a:t>
            </a:r>
            <a:br/>
            <a:br/>
            <a:r>
              <a:t>Call whenever you need it.</a:t>
            </a:r>
            <a:br/>
            <a:br/>
            <a:r>
              <a:t>You can call the same function many times.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4. Parameters &amp; Arguments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Parameters receive data; arguments are the actual values passed.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03504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5321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BF1F9"/>
                </a:solidFill>
                <a:latin typeface="Consolas"/>
              </a:defRPr>
            </a:pPr>
            <a:r>
              <a:t>def greet(name):</a:t>
            </a:r>
            <a:br/>
            <a:r>
              <a:t>    print("Hello", name)</a:t>
            </a:r>
            <a:br/>
            <a:br/>
            <a:r>
              <a:t>greet("Yohan")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417320"/>
            <a:ext cx="397763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0" y="1417320"/>
            <a:ext cx="73152" cy="438912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Terminology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67128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name → parameter</a:t>
            </a:r>
            <a:br/>
            <a:br/>
            <a:r>
              <a:t>"Yohan" → argument</a:t>
            </a:r>
            <a:br/>
            <a:br/>
            <a:r>
              <a:t>parameter = placeholder</a:t>
            </a:r>
            <a:br/>
            <a:r>
              <a:t>argument = actual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5. Multiple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function can accept multiple inputs.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03504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5321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BF1F9"/>
                </a:solidFill>
                <a:latin typeface="Consolas"/>
              </a:defRPr>
            </a:pPr>
            <a:r>
              <a:t>def add(a, b):</a:t>
            </a:r>
            <a:br/>
            <a:r>
              <a:t>    print(a + b)</a:t>
            </a:r>
            <a:br/>
            <a:br/>
            <a:r>
              <a:t>add(10, 20)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417320"/>
            <a:ext cx="3977639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0" y="1417320"/>
            <a:ext cx="73152" cy="43891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167128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def introduce(name, age, city):</a:t>
            </a:r>
            <a:br/>
            <a:r>
              <a:t>    print(name)</a:t>
            </a:r>
            <a:br/>
            <a:r>
              <a:t>    print(age)</a:t>
            </a:r>
            <a:br/>
            <a:r>
              <a:t>    print(city)</a:t>
            </a:r>
            <a:br/>
            <a:br/>
            <a:r>
              <a:t>introduce("Yohan", 22, "Kochi")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6. The return Statement ⭐⭐⭐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return sends a value back to the code that called the function.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12648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62356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BF1F9"/>
                </a:solidFill>
                <a:latin typeface="Consolas"/>
              </a:defRPr>
            </a:pPr>
            <a:r>
              <a:t>def add(a, b):</a:t>
            </a:r>
            <a:br/>
            <a:r>
              <a:t>    return a + b</a:t>
            </a:r>
            <a:br/>
            <a:br/>
            <a:r>
              <a:t>result = add(10, 20)</a:t>
            </a:r>
            <a:br/>
            <a:r>
              <a:t>print(result)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417320"/>
            <a:ext cx="3794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69480" y="1417320"/>
            <a:ext cx="73152" cy="438912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Mental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167128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Function</a:t>
            </a:r>
            <a:br/>
            <a:r>
              <a:t>↓</a:t>
            </a:r>
            <a:br/>
            <a:r>
              <a:t>process data</a:t>
            </a:r>
            <a:br/>
            <a:r>
              <a:t>↓</a:t>
            </a:r>
            <a:br/>
            <a:r>
              <a:t>return result</a:t>
            </a:r>
            <a:br/>
            <a:r>
              <a:t>↓</a:t>
            </a:r>
            <a:br/>
            <a:r>
              <a:t>calling code receives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7. print() vs return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This distinction is essential for reusable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48056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print()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709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Displays a value on the screen.</a:t>
            </a:r>
            <a:br/>
            <a:br/>
            <a:r>
              <a:t>The calling code does not receive the printed text as the function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44805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1645920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167128"/>
            <a:ext cx="4709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Sends a value back to the caller.</a:t>
            </a:r>
            <a:br/>
            <a:br/>
            <a:r>
              <a:t>The result can be stored, calculated with, passed to another function, or returned again.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8. Returning Multiple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Python can return multiple values and unpack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6766560" cy="470916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470916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62636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onsolas"/>
              </a:defRPr>
            </a:pPr>
            <a:r>
              <a:t>def calculate(a, b):</a:t>
            </a:r>
            <a:br/>
            <a:r>
              <a:t>    total = a + b</a:t>
            </a:r>
            <a:br/>
            <a:r>
              <a:t>    difference = a - b</a:t>
            </a:r>
            <a:br/>
            <a:r>
              <a:t>    return total, difference</a:t>
            </a:r>
            <a:br/>
            <a:br/>
            <a:r>
              <a:t>total, difference = calculate(20, 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342900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73152" cy="470916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Connection to Day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29260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The returned values behave like a tuple:</a:t>
            </a:r>
            <a:br/>
            <a:br/>
            <a:r>
              <a:t>(25, 15)</a:t>
            </a:r>
            <a:br/>
            <a:br/>
            <a:r>
              <a:t>Then tuple unpacking assigns them to variables.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9. Default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Parameters can have default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12648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62356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def greet(name="Guest"):</a:t>
            </a:r>
            <a:br/>
            <a:r>
              <a:t>    print("Hello", name)</a:t>
            </a:r>
            <a:br/>
            <a:br/>
            <a:r>
              <a:t>greet()</a:t>
            </a:r>
            <a:br/>
            <a:r>
              <a:t>greet("Yohan")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1417320"/>
            <a:ext cx="3794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69480" y="1417320"/>
            <a:ext cx="73152" cy="438912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43800" y="1645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167128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Hello Guest</a:t>
            </a:r>
            <a:br/>
            <a:r>
              <a:t>Hello Yohan</a:t>
            </a:r>
            <a:br/>
            <a:br/>
            <a:r>
              <a:t>A supplied argument overrides the default.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10. Keyword Arguments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You can provide arguments by parameter name.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649224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645920"/>
            <a:ext cx="598932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def introduce(name, age):</a:t>
            </a:r>
            <a:br/>
            <a:r>
              <a:t>    print(name, age)</a:t>
            </a:r>
            <a:br/>
            <a:br/>
            <a:r>
              <a:t>introduce("Yohan", 22)</a:t>
            </a:r>
            <a:br/>
            <a:br/>
            <a:r>
              <a:t>introduce(age=22, name="Yohan")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Two styles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Positional:</a:t>
            </a:r>
            <a:br/>
            <a:r>
              <a:t>introduce("Yohan", 22)</a:t>
            </a:r>
            <a:br/>
            <a:br/>
            <a:r>
              <a:t>Keyword:</a:t>
            </a:r>
            <a:br/>
            <a:r>
              <a:t>introduce(age=22, name="Yohan")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11. Functions + Lists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Functions can receive collections and process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6858000" cy="48463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48463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3550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EBF1F9"/>
                </a:solidFill>
                <a:latin typeface="Consolas"/>
              </a:defRPr>
            </a:pPr>
            <a:r>
              <a:t>def calculate_total(numbers):</a:t>
            </a:r>
            <a:br/>
            <a:r>
              <a:t>    total = 0</a:t>
            </a:r>
            <a:br/>
            <a:br/>
            <a:r>
              <a:t>    for number in numbers:</a:t>
            </a:r>
            <a:br/>
            <a:r>
              <a:t>        total += number</a:t>
            </a:r>
            <a:br/>
            <a:br/>
            <a:r>
              <a:t>    return total</a:t>
            </a:r>
            <a:br/>
            <a:br/>
            <a:r>
              <a:t>numbers = [10, 20, 30, 40]</a:t>
            </a:r>
            <a:br/>
            <a:r>
              <a:t>print(calculate_total(numbers))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280160"/>
            <a:ext cx="3337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0" y="1280160"/>
            <a:ext cx="73152" cy="484632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150876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Combined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29967"/>
            <a:ext cx="28346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Function + List + for loop + accumulator</a:t>
            </a:r>
            <a:br/>
            <a:br/>
            <a:r>
              <a:t>This is a common data-processing pattern.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12. Functions + Dictionaries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Functions can also receive structured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6858000" cy="48463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48463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63550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BF1F9"/>
                </a:solidFill>
                <a:latin typeface="Consolas"/>
              </a:defRPr>
            </a:pPr>
            <a:r>
              <a:t>def display_student(student):</a:t>
            </a:r>
            <a:br/>
            <a:r>
              <a:t>    print("Name:", student["name"])</a:t>
            </a:r>
            <a:br/>
            <a:r>
              <a:t>    print("Mark:", student["mark"])</a:t>
            </a:r>
            <a:br/>
            <a:br/>
            <a:r>
              <a:t>student = {"name": "Arun", "mark": 85}</a:t>
            </a:r>
            <a:br/>
            <a:br/>
            <a:r>
              <a:t>display_student(student)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280160"/>
            <a:ext cx="33375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0" y="1280160"/>
            <a:ext cx="73152" cy="48463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150876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Real-world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29967"/>
            <a:ext cx="2834639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Structured data often arrives as dictionaries.</a:t>
            </a:r>
            <a:br/>
            <a:br/>
            <a:r>
              <a:t>Functions make processing that data reusable.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13. Functions +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function can make a decision and return the result.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675120" cy="46634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6634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6172200" cy="4297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BF1F9"/>
                </a:solidFill>
                <a:latin typeface="Consolas"/>
              </a:defRPr>
            </a:pPr>
            <a:r>
              <a:t>def check_result(mark):</a:t>
            </a:r>
            <a:br/>
            <a:r>
              <a:t>    if mark &gt;= 50:</a:t>
            </a:r>
            <a:br/>
            <a:r>
              <a:t>        return "Pass"</a:t>
            </a:r>
            <a:br/>
            <a:r>
              <a:t>    else:</a:t>
            </a:r>
            <a:br/>
            <a:r>
              <a:t>        return "Fail"</a:t>
            </a:r>
            <a:br/>
            <a:br/>
            <a:r>
              <a:t>print(check_result(75))</a:t>
            </a:r>
            <a:br/>
            <a:r>
              <a:t>print(check_result(35))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325880"/>
            <a:ext cx="33832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26679" y="1325880"/>
            <a:ext cx="73152" cy="46634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01000" y="15544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075688"/>
            <a:ext cx="2880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Pass</a:t>
            </a:r>
            <a:br/>
            <a:r>
              <a:t>Fail</a:t>
            </a:r>
            <a:br/>
            <a:br/>
            <a:r>
              <a:t>The function hides the decision logic from the caller.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14. Functions + Loops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Functions can contain loops too.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EBF1F9"/>
                </a:solidFill>
                <a:latin typeface="Consolas"/>
              </a:defRPr>
            </a:pPr>
            <a:r>
              <a:t>def print_numbers(numbers):</a:t>
            </a:r>
            <a:br/>
            <a:r>
              <a:t>    for number in numbers:</a:t>
            </a:r>
            <a:br/>
            <a:r>
              <a:t>        print(number)</a:t>
            </a:r>
            <a:br/>
            <a:br/>
            <a:r>
              <a:t>numbers = [10, 20, 30]</a:t>
            </a:r>
            <a:br/>
            <a:r>
              <a:t>print_numbers(numbers)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The caller doesn't need to know how the loop works.</a:t>
            </a:r>
            <a:br/>
            <a:br/>
            <a:r>
              <a:t>It simply provides data and calls the function.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15. One Function, One Main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Good functions are easier to understand and 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452628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Too much responsibility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21408"/>
            <a:ext cx="46634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process_student()</a:t>
            </a:r>
            <a:br/>
            <a:r>
              <a:t>• take input</a:t>
            </a:r>
            <a:br/>
            <a:r>
              <a:t>• calculate marks</a:t>
            </a:r>
            <a:br/>
            <a:r>
              <a:t>• print result</a:t>
            </a:r>
            <a:br/>
            <a:r>
              <a:t>• save file</a:t>
            </a:r>
            <a:br/>
            <a:r>
              <a:t>• send email</a:t>
            </a:r>
            <a:br/>
            <a:br/>
            <a:r>
              <a:t>Too many responsibilities make code harder to maintain.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452628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Better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21408"/>
            <a:ext cx="46634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get_student()</a:t>
            </a:r>
            <a:br/>
            <a:r>
              <a:t>calculate_average()</a:t>
            </a:r>
            <a:br/>
            <a:r>
              <a:t>check_result()</a:t>
            </a:r>
            <a:br/>
            <a:r>
              <a:t>save_student()</a:t>
            </a:r>
            <a:br/>
            <a:br/>
            <a:r>
              <a:t>Each function has a clear responsibility.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16. Local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Variables created inside a function are normally local to that function.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40080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8978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def calculate():</a:t>
            </a:r>
            <a:br/>
            <a:r>
              <a:t>    result = 100</a:t>
            </a:r>
            <a:br/>
            <a:r>
              <a:t>    print(result)</a:t>
            </a:r>
            <a:br/>
            <a:br/>
            <a:r>
              <a:t>calculate()</a:t>
            </a:r>
            <a:br/>
            <a:br/>
            <a:r>
              <a:t>print(result)  # NameError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417320"/>
            <a:ext cx="3611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43800" y="1417320"/>
            <a:ext cx="73152" cy="438912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1645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167128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result exists inside calculate().</a:t>
            </a:r>
            <a:br/>
            <a:br/>
            <a:r>
              <a:t>Outside the function, that local variable is not available.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17. Global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Variables defined outside a function are in the global scope.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21792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715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name = "Yohan"</a:t>
            </a:r>
            <a:br/>
            <a:br/>
            <a:r>
              <a:t>def greet():</a:t>
            </a:r>
            <a:br/>
            <a:r>
              <a:t>    print(name)</a:t>
            </a:r>
            <a:br/>
            <a:br/>
            <a:r>
              <a:t>greet()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Best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67128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Global variables can be useful, but avoid relying on them everywhere.</a:t>
            </a:r>
            <a:br/>
            <a:br/>
            <a:r>
              <a:t>Prefer:</a:t>
            </a:r>
            <a:br/>
            <a:r>
              <a:t>parameters → function → return value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18. None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A function without a return statement returns None.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6217920" cy="438912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73152" cy="438912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571500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BF1F9"/>
                </a:solidFill>
                <a:latin typeface="Consolas"/>
              </a:defRPr>
            </a:pPr>
            <a:r>
              <a:t>def greet():</a:t>
            </a:r>
            <a:br/>
            <a:r>
              <a:t>    print("Hello")</a:t>
            </a:r>
            <a:br/>
            <a:br/>
            <a:r>
              <a:t>result = greet()</a:t>
            </a:r>
            <a:br/>
            <a:r>
              <a:t>print(result)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38404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0" y="1417320"/>
            <a:ext cx="73152" cy="438912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16459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167128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Hello</a:t>
            </a:r>
            <a:br/>
            <a:r>
              <a:t>None</a:t>
            </a:r>
            <a:br/>
            <a:br/>
            <a:r>
              <a:t>None means there is no returned value.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rPr lang="en-US" dirty="0"/>
              <a:t>19. Practical Example — Student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84782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rPr dirty="0"/>
              <a:t>Combine functions, lists, loops, conditions, and dictionaries.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71336"/>
            <a:ext cx="6995160" cy="525780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73152" cy="52578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9936"/>
            <a:ext cx="64922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EBF1F9"/>
                </a:solidFill>
                <a:latin typeface="Consolas"/>
              </a:defRPr>
            </a:pPr>
            <a:r>
              <a:t>def analyze_marks(marks):</a:t>
            </a:r>
            <a:br/>
            <a:r>
              <a:t>    total = 0</a:t>
            </a:r>
            <a:br/>
            <a:r>
              <a:t>    highest = marks[0]</a:t>
            </a:r>
            <a:br/>
            <a:r>
              <a:t>    lowest = marks[0]</a:t>
            </a:r>
            <a:br/>
            <a:br/>
            <a:r>
              <a:t>    for mark in marks:</a:t>
            </a:r>
            <a:br/>
            <a:r>
              <a:t>        total += mark</a:t>
            </a:r>
            <a:br/>
            <a:r>
              <a:t>        if mark &gt; highest:</a:t>
            </a:r>
            <a:br/>
            <a:r>
              <a:t>            highest = mark</a:t>
            </a:r>
            <a:br/>
            <a:r>
              <a:t>        if mark &lt; lowest:</a:t>
            </a:r>
            <a:br/>
            <a:r>
              <a:t>            lowest = mark</a:t>
            </a:r>
            <a:br/>
            <a:br/>
            <a:r>
              <a:t>    average = total / len(marks)</a:t>
            </a:r>
            <a:br/>
            <a:r>
              <a:t>    return total, average, highest, lowest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143000"/>
            <a:ext cx="333756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0" y="1143000"/>
            <a:ext cx="73152" cy="525780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137160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Call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92807"/>
            <a:ext cx="2834639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rPr dirty="0"/>
              <a:t>marks = [85, 72, 91, 64, 78]</a:t>
            </a:r>
            <a:br>
              <a:rPr dirty="0"/>
            </a:br>
            <a:br>
              <a:rPr dirty="0"/>
            </a:br>
            <a:r>
              <a:rPr dirty="0"/>
              <a:t>total, average, highest, lowest = </a:t>
            </a:r>
            <a:r>
              <a:rPr dirty="0" err="1"/>
              <a:t>analyze_marks</a:t>
            </a:r>
            <a:r>
              <a:rPr dirty="0"/>
              <a:t>(marks)</a:t>
            </a:r>
            <a:br>
              <a:rPr dirty="0"/>
            </a:br>
            <a:br>
              <a:rPr dirty="0"/>
            </a:br>
            <a:r>
              <a:rPr dirty="0"/>
              <a:t>print(total)</a:t>
            </a:r>
            <a:br>
              <a:rPr dirty="0"/>
            </a:br>
            <a:r>
              <a:rPr dirty="0"/>
              <a:t>print(average)</a:t>
            </a:r>
            <a:br>
              <a:rPr dirty="0"/>
            </a:br>
            <a:r>
              <a:rPr dirty="0"/>
              <a:t>print(highest)</a:t>
            </a:r>
            <a:br>
              <a:rPr dirty="0"/>
            </a:br>
            <a:r>
              <a:rPr dirty="0"/>
              <a:t>print(lowest)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20. Practice 1–3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Start with small functions.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48006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1 — Greeting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def greet(name):</a:t>
            </a:r>
            <a:br/>
            <a:br/>
            <a:r>
              <a:t>Print Hello + name and a welcome message.</a:t>
            </a:r>
            <a:br/>
            <a:br/>
            <a:r>
              <a:t>Call it with 3 names.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480060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2 — Add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75688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def add(a, b):</a:t>
            </a:r>
            <a:br/>
            <a:br/>
            <a:r>
              <a:t>Return the sum.</a:t>
            </a:r>
            <a:br/>
            <a:br/>
            <a:r>
              <a:t>Test with:</a:t>
            </a:r>
            <a:br/>
            <a:r>
              <a:t>add(10, 20)</a:t>
            </a:r>
            <a:br/>
            <a:r>
              <a:t>add(50, 25)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5204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73152" cy="480060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3 — Even/Odd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75688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def check_even_odd(number):</a:t>
            </a:r>
            <a:br/>
            <a:br/>
            <a:r>
              <a:t>Return "Even" or "Odd".</a:t>
            </a:r>
            <a:br/>
            <a:br/>
            <a:r>
              <a:t>Use % inside the function.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21. Practice 4–6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Now combine functions with logic and collections.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4800600"/>
          </a:xfrm>
          <a:prstGeom prst="rect">
            <a:avLst/>
          </a:prstGeom>
          <a:solidFill>
            <a:srgbClr val="DC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4 — Maximum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75688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def find_max(a, b):</a:t>
            </a:r>
            <a:br/>
            <a:br/>
            <a:r>
              <a:t>Return the larger number.</a:t>
            </a:r>
            <a:br/>
            <a:br/>
            <a:r>
              <a:t>Do not use max().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48006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5 — Average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75688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def calculate_average(numbers):</a:t>
            </a:r>
            <a:br/>
            <a:br/>
            <a:r>
              <a:t>Use a loop.</a:t>
            </a:r>
            <a:br/>
            <a:r>
              <a:t>Do not use sum() initially.</a:t>
            </a:r>
            <a:br/>
            <a:br/>
            <a:r>
              <a:t>Return the average.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5204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73152" cy="4800600"/>
          </a:xfrm>
          <a:prstGeom prst="rect">
            <a:avLst/>
          </a:prstGeom>
          <a:solidFill>
            <a:srgbClr val="2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Task 6 —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75688"/>
            <a:ext cx="30175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def check_result(mark):</a:t>
            </a:r>
            <a:br/>
            <a:br/>
            <a:r>
              <a:t>90–100 → Excellent</a:t>
            </a:r>
            <a:br/>
            <a:r>
              <a:t>75–89 → Very Good</a:t>
            </a:r>
            <a:br/>
            <a:r>
              <a:t>50–74 → Pass</a:t>
            </a:r>
            <a:br/>
            <a:r>
              <a:t>0–49 → Fail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rPr dirty="0"/>
              <a:t>22. Challenge ⭐ — Student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rPr dirty="0"/>
              <a:t>Build a reusable function that accepts a student dictionary.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6720840" cy="5120640"/>
          </a:xfrm>
          <a:prstGeom prst="roundRect">
            <a:avLst/>
          </a:prstGeom>
          <a:solidFill>
            <a:srgbClr val="1B2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51206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6217920" cy="4754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EBF1F9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analyze_student</a:t>
            </a:r>
            <a:r>
              <a:rPr dirty="0"/>
              <a:t>(student):</a:t>
            </a:r>
            <a:br>
              <a:rPr dirty="0"/>
            </a:br>
            <a:r>
              <a:rPr dirty="0"/>
              <a:t>    # get name and marks</a:t>
            </a:r>
            <a:br>
              <a:rPr dirty="0"/>
            </a:br>
            <a:r>
              <a:rPr dirty="0"/>
              <a:t>    # calculate total and average</a:t>
            </a:r>
            <a:br>
              <a:rPr dirty="0"/>
            </a:br>
            <a:r>
              <a:rPr dirty="0"/>
              <a:t>    # find highest and lowest</a:t>
            </a:r>
            <a:br>
              <a:rPr dirty="0"/>
            </a:br>
            <a:r>
              <a:rPr dirty="0"/>
              <a:t>    # determine result</a:t>
            </a:r>
            <a:br>
              <a:rPr dirty="0"/>
            </a:br>
            <a:br>
              <a:rPr dirty="0"/>
            </a:br>
            <a:r>
              <a:rPr dirty="0"/>
              <a:t>    return {</a:t>
            </a:r>
            <a:br>
              <a:rPr dirty="0"/>
            </a:br>
            <a:r>
              <a:rPr dirty="0"/>
              <a:t>        "name": name,</a:t>
            </a:r>
            <a:br>
              <a:rPr dirty="0"/>
            </a:br>
            <a:r>
              <a:rPr dirty="0"/>
              <a:t>        "total": total,</a:t>
            </a:r>
            <a:br>
              <a:rPr dirty="0"/>
            </a:br>
            <a:r>
              <a:rPr dirty="0"/>
              <a:t>        "average": average,</a:t>
            </a:r>
            <a:br>
              <a:rPr dirty="0"/>
            </a:br>
            <a:r>
              <a:rPr dirty="0"/>
              <a:t>        "highest": highest,</a:t>
            </a:r>
            <a:br>
              <a:rPr dirty="0"/>
            </a:br>
            <a:r>
              <a:rPr dirty="0"/>
              <a:t>        "lowest": lowest,</a:t>
            </a:r>
            <a:br>
              <a:rPr dirty="0"/>
            </a:br>
            <a:r>
              <a:rPr dirty="0"/>
              <a:t>        "result": result</a:t>
            </a:r>
            <a:br>
              <a:rPr dirty="0"/>
            </a:br>
            <a:r>
              <a:rPr dirty="0"/>
              <a:t>   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234440"/>
            <a:ext cx="35661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89520" y="1234440"/>
            <a:ext cx="73152" cy="5120640"/>
          </a:xfrm>
          <a:prstGeom prst="rect">
            <a:avLst/>
          </a:prstGeom>
          <a:solidFill>
            <a:srgbClr val="2591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463040"/>
            <a:ext cx="30632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984248"/>
            <a:ext cx="30632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student = {</a:t>
            </a:r>
            <a:br/>
            <a:r>
              <a:t>    "name": "Rahul",</a:t>
            </a:r>
            <a:br/>
            <a:r>
              <a:t>    "marks": [85, 72, 91, 88, 79]</a:t>
            </a:r>
            <a:br/>
            <a:r>
              <a:t>}</a:t>
            </a:r>
            <a:br/>
            <a:br/>
            <a:r>
              <a:t>Return a dictionary report rather than just printing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23. Function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Think of a function as a reusable machine.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2011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C63D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17320"/>
            <a:ext cx="4389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66360" y="1737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334"/>
                </a:solidFill>
                <a:latin typeface="Aptos"/>
              </a:defRPr>
            </a:pPr>
            <a:r>
              <a:t>FUNCTION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667080"/>
                </a:solidFill>
                <a:latin typeface="Aptos"/>
              </a:defRPr>
            </a:pPr>
            <a:r>
              <a:t>process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103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0" y="2011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9162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931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2334"/>
                </a:solidFill>
                <a:latin typeface="Aptos"/>
              </a:defRPr>
            </a:pPr>
            <a:r>
              <a:t>parameters → processing → return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6177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7080"/>
                </a:solidFill>
                <a:latin typeface="Aptos"/>
              </a:defRPr>
            </a:pPr>
            <a:r>
              <a:t>The caller only needs to know what goes in and what comes out.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Day 6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8D2E1"/>
                </a:solidFill>
                <a:latin typeface="Aptos"/>
              </a:defRPr>
            </a:pPr>
            <a:r>
              <a:t>Functions turn repeated logic into reusable building blocks.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9875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def and function definitions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Calling functions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Parameters and arguments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return vs print()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Multiple return values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Default and keyword arguments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Functions + lists and dictionaries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Local and global scope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Designing functions with one clear 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32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2A0B4"/>
                </a:solidFill>
                <a:latin typeface="Aptos"/>
              </a:defRPr>
            </a:pPr>
            <a:r>
              <a:t>Next → Day 7: Modules, Imports &amp; Python's Standard Library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1148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82334"/>
                </a:solidFill>
                <a:latin typeface="Aptos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67080"/>
                </a:solidFill>
                <a:latin typeface="Aptos"/>
              </a:defRPr>
            </a:pPr>
            <a:r>
              <a:t>Official Python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1908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5AFBE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07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73152" cy="2148840"/>
          </a:xfrm>
          <a:prstGeom prst="rect">
            <a:avLst/>
          </a:prstGeom>
          <a:solidFill>
            <a:srgbClr val="2C6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101041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82334"/>
                </a:solidFill>
                <a:latin typeface="Aptos"/>
              </a:defRPr>
            </a:pPr>
            <a:r>
              <a:t>Python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75688"/>
            <a:ext cx="101041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A323E"/>
                </a:solidFill>
                <a:latin typeface="Aptos"/>
              </a:defRPr>
            </a:pPr>
            <a:r>
              <a:t>Aligned with the official Python documentation covering defining functions, parameters, return values, keyword arguments, and scope.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862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63DC"/>
                </a:solidFill>
                <a:latin typeface="Consolas"/>
              </a:defRPr>
            </a:pPr>
            <a:r>
              <a:t>docs.python.org/3/tutorial/controlflow.html#defining-functions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8056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C63DC"/>
                </a:solidFill>
                <a:latin typeface="Consolas"/>
              </a:defRPr>
            </a:pPr>
            <a:r>
              <a:t>docs.python.org/3/tutorial/controlflow.html#more-on-defining-functions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2015</Words>
  <Application>Microsoft Office PowerPoint</Application>
  <PresentationFormat>Widescreen</PresentationFormat>
  <Paragraphs>190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Yohan Saji</cp:lastModifiedBy>
  <cp:revision>2</cp:revision>
  <dcterms:created xsi:type="dcterms:W3CDTF">2013-01-27T09:14:16Z</dcterms:created>
  <dcterms:modified xsi:type="dcterms:W3CDTF">2026-08-17T12:39:03Z</dcterms:modified>
  <cp:category/>
</cp:coreProperties>
</file>