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4" r:id="rId25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Conditional Statements &amp; Decision 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if • elif • else • comparisons • logical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2,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Run code only when a condition is 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Handle the alternative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elif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Test multiple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Comparisons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==, !=, &gt;, &lt;, &gt;=, &lt;=.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Combine conditions with and, or, not.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Nested 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Build decisions inside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Why Conditions?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Programs need to make decisions based on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Real-world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Is the user old enough to vote?</a:t>
            </a:r>
            <a:br/>
            <a:br/>
            <a:r>
              <a:t>Is the account balance sufficient?</a:t>
            </a:r>
            <a:br/>
            <a:br/>
            <a:r>
              <a:t>Did the student pass?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17320"/>
            <a:ext cx="6629400" cy="42976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45920"/>
            <a:ext cx="6126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BF1F9"/>
                </a:solidFill>
                <a:latin typeface="Cascadia Mono"/>
              </a:defRPr>
            </a:pPr>
            <a:r>
              <a:t>age = 20</a:t>
            </a:r>
            <a:br/>
            <a:br/>
            <a:r>
              <a:t>if age &gt;= 18:</a:t>
            </a:r>
            <a:br/>
            <a:r>
              <a:t>    print("You can vote")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The if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basic structure for conditional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212080" cy="22860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2286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BF1F9"/>
                </a:solidFill>
                <a:latin typeface="Cascadia Mono"/>
              </a:defRPr>
            </a:pPr>
            <a:r>
              <a:t>if condition:</a:t>
            </a:r>
            <a:br/>
            <a:r>
              <a:t>   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754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73152" cy="2286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67128"/>
            <a:ext cx="4251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condition must evaluate to a true value for the indented block to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977639"/>
            <a:ext cx="73152" cy="16459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9829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Indentation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27448"/>
            <a:ext cx="9829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Python uses indentation to define the block controlled by if. Use consistent indentation, normally 4 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Comparisons produce True or False.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==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Equal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00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Cascadia Mono"/>
              </a:defRPr>
            </a:pPr>
            <a:r>
              <a:t>x ==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600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!=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19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Not 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00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Cascadia Mono"/>
              </a:defRPr>
            </a:pPr>
            <a:r>
              <a:t>x !=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Greater than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Cascadia Mono"/>
              </a:defRPr>
            </a:pPr>
            <a:r>
              <a:t>x &gt;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432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&lt;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Less than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Cascadia Mono"/>
              </a:defRPr>
            </a:pPr>
            <a:r>
              <a:t>x &lt;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&gt;=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Greater than or equal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343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Cascadia Mono"/>
              </a:defRPr>
            </a:pPr>
            <a:r>
              <a:t>x &gt;=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1148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&lt;=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Less than or equal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343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Cascadia Mono"/>
              </a:defRPr>
            </a:pPr>
            <a:r>
              <a:t>x &lt;=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if +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Handle both possible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ascadia Mono"/>
              </a:defRPr>
            </a:pPr>
            <a:r>
              <a:t>age = 16</a:t>
            </a:r>
            <a:br/>
            <a:br/>
            <a:r>
              <a:t>if age &gt;= 18:</a:t>
            </a:r>
            <a:br/>
            <a:r>
              <a:t>    print("You can vote")</a:t>
            </a:r>
            <a:br/>
            <a:r>
              <a:t>else:</a:t>
            </a:r>
            <a:br/>
            <a:r>
              <a:t>    print("You cannot vote")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Think of it 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Condition true → if block</a:t>
            </a:r>
            <a:br/>
            <a:br/>
            <a:r>
              <a:t>Condition false → else block</a:t>
            </a:r>
            <a:br/>
            <a:br/>
            <a:r>
              <a:t>Only one branch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if + elif +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Choose between multiple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49224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5989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ascadia Mono"/>
              </a:defRPr>
            </a:pPr>
            <a:r>
              <a:t>marks = 75</a:t>
            </a:r>
            <a:br/>
            <a:br/>
            <a:r>
              <a:t>if marks &gt;= 90:</a:t>
            </a:r>
            <a:br/>
            <a:r>
              <a:t>    print("A")</a:t>
            </a:r>
            <a:br/>
            <a:r>
              <a:t>elif marks &gt;= 75:</a:t>
            </a:r>
            <a:br/>
            <a:r>
              <a:t>    print("B")</a:t>
            </a:r>
            <a:br/>
            <a:r>
              <a:t>elif marks &gt;= 60:</a:t>
            </a:r>
            <a:br/>
            <a:r>
              <a:t>    print("C")</a:t>
            </a:r>
            <a:br/>
            <a:r>
              <a:t>else:</a:t>
            </a:r>
            <a:br/>
            <a:r>
              <a:t>    print("D")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6118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73152" cy="48006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Execution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75688"/>
            <a:ext cx="31089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Python checks from top to bottom. When one condition is true, the remaining branches are skipped.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or reverse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Both conditions must be true.</a:t>
            </a:r>
            <a:br/>
            <a:br/>
            <a:r>
              <a:t>age &gt;= 18 and has_license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67128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At least one condition must be true.</a:t>
            </a:r>
            <a:br/>
            <a:br/>
            <a:r>
              <a:t>day == "Saturday" or day == "Sunday"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67128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Reverses a Boolean condition.</a:t>
            </a:r>
            <a:br/>
            <a:br/>
            <a:r>
              <a:t>not is_raining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Example: Driving Eligibility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comparison and logical operators.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58368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6080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ascadia Mono"/>
              </a:defRPr>
            </a:pPr>
            <a:r>
              <a:t>age = 25</a:t>
            </a:r>
            <a:br/>
            <a:r>
              <a:t>has_license = True</a:t>
            </a:r>
            <a:br/>
            <a:br/>
            <a:r>
              <a:t>if age &gt;= 18 and has_license:</a:t>
            </a:r>
            <a:br/>
            <a:r>
              <a:t>    print("You can drive")</a:t>
            </a:r>
            <a:br/>
            <a:r>
              <a:t>else:</a:t>
            </a:r>
            <a:br/>
            <a:r>
              <a:t>    print("You cannot drive")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Two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167128"/>
            <a:ext cx="2880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1. Is age at least 18?</a:t>
            </a:r>
            <a:br/>
            <a:br/>
            <a:r>
              <a:t>2. Does the person have a license?</a:t>
            </a:r>
            <a:br/>
            <a:br/>
            <a:r>
              <a:t>Both must be true because we used 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Nested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An if statement can contain another 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67512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172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ascadia Mono"/>
              </a:defRPr>
            </a:pPr>
            <a:r>
              <a:t>age = 25</a:t>
            </a:r>
            <a:br/>
            <a:r>
              <a:t>has_license = True</a:t>
            </a:r>
            <a:br/>
            <a:br/>
            <a:r>
              <a:t>if age &gt;= 18:</a:t>
            </a:r>
            <a:br/>
            <a:r>
              <a:t>    if has_license:</a:t>
            </a:r>
            <a:br/>
            <a:r>
              <a:t>        print("You can drive")</a:t>
            </a:r>
            <a:br/>
            <a:r>
              <a:t>    else:</a:t>
            </a:r>
            <a:br/>
            <a:r>
              <a:t>        print("You need a license")</a:t>
            </a:r>
            <a:br/>
            <a:r>
              <a:t>else:</a:t>
            </a:r>
            <a:br/>
            <a:r>
              <a:t>    print("You are too young")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8006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Be careful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Nested conditions are valid, but deeply nested code can become hard to read.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Practical Example — Grade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common use of elif.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94944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644652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ascadia Mono"/>
              </a:defRPr>
            </a:pPr>
            <a:r>
              <a:t>marks = int(input("Enter marks: "))</a:t>
            </a:r>
            <a:br/>
            <a:br/>
            <a:r>
              <a:t>if marks &gt;= 90:</a:t>
            </a:r>
            <a:br/>
            <a:r>
              <a:t>    grade = "A"</a:t>
            </a:r>
            <a:br/>
            <a:r>
              <a:t>elif marks &gt;= 80:</a:t>
            </a:r>
            <a:br/>
            <a:r>
              <a:t>    grade = "B"</a:t>
            </a:r>
            <a:br/>
            <a:r>
              <a:t>elif marks &gt;= 70:</a:t>
            </a:r>
            <a:br/>
            <a:r>
              <a:t>    grade = "C"</a:t>
            </a:r>
            <a:br/>
            <a:r>
              <a:t>elif marks &gt;= 60:</a:t>
            </a:r>
            <a:br/>
            <a:r>
              <a:t>    grade = "D"</a:t>
            </a:r>
            <a:br/>
            <a:r>
              <a:t>else:</a:t>
            </a:r>
            <a:br/>
            <a:r>
              <a:t>    grade = "F"</a:t>
            </a:r>
            <a:br/>
            <a:br/>
            <a:r>
              <a:t>print("Grade:", grade)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234440"/>
            <a:ext cx="32461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234440"/>
            <a:ext cx="73152" cy="50749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984248"/>
            <a:ext cx="2743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Order matters. Check higher thresholds first so the correct branch is selected.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Practice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Try these without looking at solutions.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Positive / Negative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a number.</a:t>
            </a:r>
            <a:br/>
            <a:br/>
            <a:r>
              <a:t>Print Positive, Negative, or Zero.</a:t>
            </a:r>
            <a:br/>
            <a:br/>
            <a:r>
              <a:t>Hint: compare the number with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Even / Odd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an integer.</a:t>
            </a:r>
            <a:br/>
            <a:br/>
            <a:r>
              <a:t>Determine whether it is even or odd.</a:t>
            </a:r>
            <a:br/>
            <a:br/>
            <a:r>
              <a:t>Hint: number % 2 ==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Practice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Build simple decision-making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Voting Eligibility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age.</a:t>
            </a:r>
            <a:br/>
            <a:br/>
            <a:r>
              <a:t>18 or above → Eligible</a:t>
            </a:r>
            <a:br/>
            <a:r>
              <a:t>Below 18 → Not eligible</a:t>
            </a:r>
            <a:br/>
            <a:br/>
            <a:r>
              <a:t>Use if +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Largest of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two numbers.</a:t>
            </a:r>
            <a:br/>
            <a:br/>
            <a:r>
              <a:t>Print which number is larger.</a:t>
            </a:r>
            <a:br/>
            <a:br/>
            <a:r>
              <a:t>Also handle equal numbers.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Challenge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Ask for marks.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90–100 → A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80–89 → B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70–79 → C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60–69 → D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Below 60 → 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828800"/>
            <a:ext cx="4251960" cy="22860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03720" y="1828800"/>
            <a:ext cx="73152" cy="2286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57400"/>
            <a:ext cx="3749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ascadia Mono"/>
              </a:defRPr>
            </a:pPr>
            <a:r>
              <a:t>marks = int(input("Marks: "))</a:t>
            </a:r>
            <a:br/>
            <a:br/>
            <a:r>
              <a:t># Write your if / elif / else logic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Final Challenge — ATM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everything from Days 1 and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09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 with balance = 10000.</a:t>
            </a:r>
            <a:br/>
            <a:br/>
            <a:r>
              <a:t>Ask for withdrawal amount.</a:t>
            </a:r>
            <a:br/>
            <a:br/>
            <a:r>
              <a:t>• amount &lt;= 0 → Invalid</a:t>
            </a:r>
            <a:br/>
            <a:r>
              <a:t>• amount &lt;= balance → Successful</a:t>
            </a:r>
            <a:br/>
            <a:r>
              <a:t>• amount &gt; balance → Insufficient balance</a:t>
            </a:r>
            <a:br/>
            <a:br/>
            <a:r>
              <a:t>Show remaining balance after success.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846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ascadia Mono"/>
              </a:defRPr>
            </a:pPr>
            <a:r>
              <a:t>balance = 10000</a:t>
            </a:r>
            <a:br/>
            <a:r>
              <a:t>amount = int(input("Withdrawal: "))</a:t>
            </a:r>
            <a:br/>
            <a:br/>
            <a:r>
              <a:t>if amount &lt;= 0:</a:t>
            </a:r>
            <a:br/>
            <a:r>
              <a:t>    print("Invalid amount")</a:t>
            </a:r>
            <a:br/>
            <a:r>
              <a:t>elif amount &lt;= balance:</a:t>
            </a:r>
            <a:br/>
            <a:r>
              <a:t>    balance -= amount</a:t>
            </a:r>
            <a:br/>
            <a:r>
              <a:t>    print("Withdrawal successful")</a:t>
            </a:r>
            <a:br/>
            <a:r>
              <a:t>    print("Balance:", balance)</a:t>
            </a:r>
            <a:br/>
            <a:r>
              <a:t>else:</a:t>
            </a:r>
            <a:br/>
            <a:r>
              <a:t>    print("Insufficient balance")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These are worth catching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Using = instead of ==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490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= assigns; == compares.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Bad indentation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33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The indented block belongs to the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Wrong condition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776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With elif, check higher thresholds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54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Forgetting input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919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input() gives text; convert when numeric comparison is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You can now make Python programs choose between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if statements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if / else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if / elif / else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Comparison operators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and / or / not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Nested conditions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Decision-making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A0B4"/>
                </a:solidFill>
                <a:latin typeface="Aptos"/>
              </a:defRPr>
            </a:pPr>
            <a:r>
              <a:t>Next → Day 3: for loops and while loops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2103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Python Control Flow &amp; Comparisons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10411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the official Python documentation for if statements, compound statements, comparisons, and Boolean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63DC"/>
                </a:solidFill>
                <a:latin typeface="Cascadia Mono"/>
              </a:defRPr>
            </a:pPr>
            <a:r>
              <a:t>docs.python.org/3/reference/compound_stmts.html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63DC"/>
                </a:solidFill>
                <a:latin typeface="Cascadia Mono"/>
              </a:defRPr>
            </a:pPr>
            <a:r>
              <a:t>docs.python.org/3/library/stdtypes.html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Indentation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uses indentation to define the structure of a code block.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4434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33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63DC"/>
                </a:solidFill>
                <a:latin typeface="Aptos"/>
              </a:defRPr>
            </a:pPr>
            <a:r>
              <a:t>Indentation is part of the syntax.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572000" cy="23317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if age &gt;= 18:</a:t>
            </a:r>
            <a:br/>
            <a:r>
              <a:t>    print("Adult")</a:t>
            </a:r>
            <a:br/>
            <a:r>
              <a:t>    print("Can vote")</a:t>
            </a:r>
            <a:br/>
            <a:br/>
            <a:r>
              <a:t>print("Outside if")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The two indented lines belong to the if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44348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334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7E28"/>
                </a:solidFill>
                <a:latin typeface="Aptos"/>
              </a:defRPr>
            </a:pPr>
            <a:r>
              <a:t>Braces { } define the code block.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743200"/>
            <a:ext cx="4572000" cy="23317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971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if (age &gt;= 18) {</a:t>
            </a:r>
            <a:br/>
            <a:r>
              <a:t>    System.out.println("Adult");</a:t>
            </a:r>
            <a:br/>
            <a:r>
              <a:t>    System.out.println("Can vote");</a:t>
            </a:r>
            <a:br/>
            <a:r>
              <a:t>}</a:t>
            </a:r>
            <a:br/>
            <a:br/>
            <a:r>
              <a:t>System.out.println("Outside if");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85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Indentation improves readability, but { } determine the block.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Key difference: Python uses whitespace to structure blocks; Java uses braces to structure blocks.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