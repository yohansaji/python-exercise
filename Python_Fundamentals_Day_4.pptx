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3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A0B4"/>
                </a:solidFill>
                <a:latin typeface="Aptos"/>
              </a:defRPr>
            </a:pPr>
            <a:r>
              <a:t>PYTHON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ptos"/>
              </a:defRPr>
            </a:pPr>
            <a:r>
              <a:t>Day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63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D2DCEB"/>
                </a:solidFill>
                <a:latin typeface="Aptos"/>
              </a:defRPr>
            </a:pPr>
            <a:r>
              <a:t>Lists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09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A0B4"/>
                </a:solidFill>
                <a:latin typeface="Aptos"/>
              </a:defRPr>
            </a:pPr>
            <a:r>
              <a:t>Creating • Indexing • Modifying • Slicing • Lists + Loops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By the end of Day 4, you should be able to: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73152" cy="169164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Create lists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Store multiple values in one variable.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5087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1508760"/>
            <a:ext cx="73152" cy="169164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17373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2585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Access elements by position.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5087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75320" y="1508760"/>
            <a:ext cx="73152" cy="169164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49640" y="17373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Modify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2585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Change list elements.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661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566160"/>
            <a:ext cx="73152" cy="169164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7947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Methods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3159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Use append, insert, remove, pop.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5661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80560" y="3566160"/>
            <a:ext cx="73152" cy="169164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0" y="37947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Slice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3159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Extract part of a list.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5661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75320" y="3566160"/>
            <a:ext cx="73152" cy="169164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49640" y="37947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43159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Combine lists with loops.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1. What Is a List?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A list stores multiple values in a single variable.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8862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429768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67128"/>
            <a:ext cx="3515360" cy="2134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0">
                <a:solidFill>
                  <a:srgbClr val="2A323E"/>
                </a:solidFill>
                <a:latin typeface="Aptos"/>
              </a:defRPr>
            </a:pPr>
            <a:r>
              <a:rPr dirty="0"/>
              <a:t>students = ["Arun", "Rahul", "Anu", "John"]</a:t>
            </a:r>
            <a:br>
              <a:rPr dirty="0"/>
            </a:br>
            <a:br>
              <a:rPr dirty="0"/>
            </a:br>
            <a:r>
              <a:rPr dirty="0"/>
              <a:t>Lists are ordered and mutable.</a:t>
            </a:r>
            <a:br>
              <a:rPr dirty="0"/>
            </a:br>
            <a:br>
              <a:rPr dirty="0"/>
            </a:br>
            <a:r>
              <a:rPr dirty="0"/>
              <a:t>They can contain duplicate values and can technically contain different types.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1417320"/>
            <a:ext cx="6309360" cy="429768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892040" y="1417320"/>
            <a:ext cx="73152" cy="429768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66359" y="1645920"/>
            <a:ext cx="5806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BF1F9"/>
                </a:solidFill>
                <a:latin typeface="Consolas"/>
              </a:defRPr>
            </a:pPr>
            <a:r>
              <a:t>students = ["Arun", "Rahul", "Anu", "John"]</a:t>
            </a:r>
            <a:br/>
            <a:br/>
            <a:r>
              <a:t>marks = [85, 72, 91, 64]</a:t>
            </a:r>
            <a:br/>
            <a:br/>
            <a:r>
              <a:t>data = ["Yohan", 22, 8.56, True]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2. Creating Lists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Use square brackets [ ] to create a list.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492240" cy="43891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9893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BF1F9"/>
                </a:solidFill>
                <a:latin typeface="Consolas"/>
              </a:defRPr>
            </a:pPr>
            <a:r>
              <a:t>fruits = ["Apple", "Banana", "Mango"]</a:t>
            </a:r>
            <a:br/>
            <a:r>
              <a:t>marks = [85, 72, 91, 64]</a:t>
            </a:r>
            <a:br/>
            <a:br/>
            <a:r>
              <a:t>empty_list = []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41732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35240" y="1417320"/>
            <a:ext cx="73152" cy="438912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09560" y="164592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Good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167128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Usually keep related data together.</a:t>
            </a:r>
            <a:br/>
            <a:br/>
            <a:r>
              <a:t>Examples:</a:t>
            </a:r>
            <a:br/>
            <a:r>
              <a:t>• marks</a:t>
            </a:r>
            <a:br/>
            <a:r>
              <a:t>• names</a:t>
            </a:r>
            <a:br/>
            <a:r>
              <a:t>• products</a:t>
            </a:r>
            <a:br/>
            <a:r>
              <a:t>• prices</a:t>
            </a:r>
            <a:br/>
            <a:r>
              <a:t>• cities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3. Indexing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Python list indexes start at 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070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123444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101041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Remember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67128"/>
            <a:ext cx="101041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First element = index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0360"/>
            <a:ext cx="6400800" cy="274320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2880360"/>
            <a:ext cx="73152" cy="27432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5897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BF1F9"/>
                </a:solidFill>
                <a:latin typeface="Consolas"/>
              </a:defRPr>
            </a:pPr>
            <a:r>
              <a:t>fruits = ["Apple", "Banana", "Mango"]</a:t>
            </a:r>
            <a:br/>
            <a:br/>
            <a:r>
              <a:t>print(fruits[0])  # Apple</a:t>
            </a:r>
            <a:br/>
            <a:r>
              <a:t>print(fruits[2])  # Mango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2880360"/>
            <a:ext cx="36576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43800" y="2880360"/>
            <a:ext cx="73152" cy="27432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18120" y="31089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Positions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630168"/>
            <a:ext cx="3154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Apple  → 0</a:t>
            </a:r>
            <a:br/>
            <a:r>
              <a:t>Banana → 1</a:t>
            </a:r>
            <a:br/>
            <a:r>
              <a:t>Mango  →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4. Negative Indexing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Negative indexes count from the 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400800" cy="34747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34747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897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BF1F9"/>
                </a:solidFill>
                <a:latin typeface="Consolas"/>
              </a:defRPr>
            </a:pPr>
            <a:r>
              <a:t>fruits = ["Apple", "Banana", "Mango"]</a:t>
            </a:r>
            <a:br/>
            <a:br/>
            <a:r>
              <a:t>print(fruits[-1])  # Mango</a:t>
            </a:r>
            <a:br/>
            <a:r>
              <a:t>print(fruits[-2])  # Banana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417320"/>
            <a:ext cx="3657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543800" y="1417320"/>
            <a:ext cx="73152" cy="347472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18120" y="16459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Index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167128"/>
            <a:ext cx="3154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Apple  → 0 / -3</a:t>
            </a:r>
            <a:br/>
            <a:r>
              <a:t>Banana → 1 / -2</a:t>
            </a:r>
            <a:br/>
            <a:r>
              <a:t>Mango  → 2 / -1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5. Changing List Elements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Lists are mutable, so their elements can be changed.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400800" cy="43891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897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BF1F9"/>
                </a:solidFill>
                <a:latin typeface="Consolas"/>
              </a:defRPr>
            </a:pPr>
            <a:r>
              <a:t>fruits = ["Apple", "Banana", "Mango"]</a:t>
            </a:r>
            <a:br/>
            <a:br/>
            <a:r>
              <a:t>fruits[1] = "Orange"</a:t>
            </a:r>
            <a:br/>
            <a:br/>
            <a:r>
              <a:t>print(fruits)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417320"/>
            <a:ext cx="3657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543800" y="1417320"/>
            <a:ext cx="73152" cy="438912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18120" y="16459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167128"/>
            <a:ext cx="3154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['Apple', 'Orange', 'Mango']</a:t>
            </a:r>
            <a:br/>
            <a:br/>
            <a:r>
              <a:t>Banana was replaced by Orange.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6. Adding Elements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Use append() and insert().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448056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append()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67128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Adds an item to the end.</a:t>
            </a:r>
            <a:br/>
            <a:br/>
            <a:r>
              <a:t>fruits = ["Apple", "Banana"]</a:t>
            </a:r>
            <a:br/>
            <a:r>
              <a:t>fruits.append("Mango")</a:t>
            </a:r>
            <a:br/>
            <a:br/>
            <a:r>
              <a:t>Result:</a:t>
            </a:r>
            <a:br/>
            <a:r>
              <a:t>['Apple', 'Banana', 'Mango']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73152" cy="448056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59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insert()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167128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Adds an item at a specific index.</a:t>
            </a:r>
            <a:br/>
            <a:br/>
            <a:r>
              <a:t>fruits.insert(1, "Orange")</a:t>
            </a:r>
            <a:br/>
            <a:br/>
            <a:r>
              <a:t>Existing elements shift to the right.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7. Removing Elements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Use remove() or pop().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448056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remove(value)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67128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Removes the first matching value.</a:t>
            </a:r>
            <a:br/>
            <a:br/>
            <a:r>
              <a:t>fruits.remove("Banana")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73152" cy="448056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59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pop(index)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167128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Removes and returns an element by index.</a:t>
            </a:r>
            <a:br/>
            <a:br/>
            <a:r>
              <a:t>fruits.pop(1)</a:t>
            </a:r>
            <a:br/>
            <a:br/>
            <a:r>
              <a:t>fruits.pop() removes the last element.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8. List Length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Use len() to count elements.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217920" cy="34747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34747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715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BF1F9"/>
                </a:solidFill>
                <a:latin typeface="Consolas"/>
              </a:defRPr>
            </a:pPr>
            <a:r>
              <a:t>fruits = ["Apple", "Banana", "Mango"]</a:t>
            </a:r>
            <a:br/>
            <a:br/>
            <a:r>
              <a:t>print(len(fruits))</a:t>
            </a:r>
            <a:br/>
            <a:r>
              <a:t>#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417320"/>
            <a:ext cx="38404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0" y="1417320"/>
            <a:ext cx="73152" cy="34747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0" y="164592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167128"/>
            <a:ext cx="3337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Useful for counting items, controlling loops, validating input, and calculating averages.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9. Lists + Loops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Yesterday's loops become much more useful with lists.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6629400" cy="448056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448056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6126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BF1F9"/>
                </a:solidFill>
                <a:latin typeface="Consolas"/>
              </a:defRPr>
            </a:pPr>
            <a:r>
              <a:t>students = ["Arun", "Rahul", "Anu", "John"]</a:t>
            </a:r>
            <a:br/>
            <a:br/>
            <a:r>
              <a:t>for student in students:</a:t>
            </a:r>
            <a:br/>
            <a:r>
              <a:t>    print(student)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41732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35240" y="1417320"/>
            <a:ext cx="73152" cy="448056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09560" y="1645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167128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LIST</a:t>
            </a:r>
            <a:br/>
            <a:r>
              <a:t>↓</a:t>
            </a:r>
            <a:br/>
            <a:r>
              <a:t>FOR LOOP</a:t>
            </a:r>
            <a:br/>
            <a:r>
              <a:t>↓</a:t>
            </a:r>
            <a:br/>
            <a:r>
              <a:t>PROCESS EACH ITEM</a:t>
            </a:r>
            <a:br/>
            <a:br/>
            <a:r>
              <a:t>This pattern appears everywhere in data processing.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10. Checking Membership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Use in to check whether an item exists.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6766560" cy="466344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466344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6263640" cy="429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BF1F9"/>
                </a:solidFill>
                <a:latin typeface="Consolas"/>
              </a:defRPr>
            </a:pPr>
            <a:r>
              <a:t>fruits = ["Apple", "Banana", "Mango"]</a:t>
            </a:r>
            <a:br/>
            <a:br/>
            <a:r>
              <a:t>print("Apple" in fruits)   # True</a:t>
            </a:r>
            <a:br/>
            <a:r>
              <a:t>print("Orange" in fruits)  # False</a:t>
            </a:r>
            <a:br/>
            <a:br/>
            <a:r>
              <a:t>if "Mango" in fruits:</a:t>
            </a:r>
            <a:br/>
            <a:r>
              <a:t>    print("Mango is available")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325880"/>
            <a:ext cx="32918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818120" y="1325880"/>
            <a:ext cx="73152" cy="466344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92440" y="155448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Key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075688"/>
            <a:ext cx="2788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item in list</a:t>
            </a:r>
            <a:br/>
            <a:br/>
            <a:r>
              <a:t>returns True or False.</a:t>
            </a:r>
            <a:br/>
            <a:br/>
            <a:r>
              <a:t>Useful for searches and validation.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11. List Slicing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Extract part of a list using [start:stop].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6949440" cy="480060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48006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64465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BF1F9"/>
                </a:solidFill>
                <a:latin typeface="Consolas"/>
              </a:defRPr>
            </a:pPr>
            <a:r>
              <a:t>numbers = [10, 20, 30, 40, 50]</a:t>
            </a:r>
            <a:br/>
            <a:br/>
            <a:r>
              <a:t>print(numbers[1:4])  # [20, 30, 40]</a:t>
            </a:r>
            <a:br/>
            <a:r>
              <a:t>print(numbers[:3])   # [10, 20, 30]</a:t>
            </a:r>
            <a:br/>
            <a:r>
              <a:t>print(numbers[2:])   # [30, 40, 50]</a:t>
            </a:r>
            <a:br/>
            <a:r>
              <a:t>print(numbers[:])    # entire 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325880"/>
            <a:ext cx="32004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909560" y="1325880"/>
            <a:ext cx="73152" cy="480060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80" y="155448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Important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2075688"/>
            <a:ext cx="26974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The stop index is excluded.</a:t>
            </a:r>
            <a:br/>
            <a:br/>
            <a:r>
              <a:t>list[start:stop]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12. Sorting Lists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Use sort() to arrange elements.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6766560" cy="475488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475488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6263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BF1F9"/>
                </a:solidFill>
                <a:latin typeface="Consolas"/>
              </a:defRPr>
            </a:pPr>
            <a:r>
              <a:t>marks = [72, 95, 64, 88, 79]</a:t>
            </a:r>
            <a:br/>
            <a:br/>
            <a:r>
              <a:t>marks.sort()</a:t>
            </a:r>
            <a:br/>
            <a:r>
              <a:t>print(marks)</a:t>
            </a:r>
            <a:br/>
            <a:r>
              <a:t># [64, 72, 79, 88, 95]</a:t>
            </a:r>
            <a:br/>
            <a:br/>
            <a:r>
              <a:t>marks.sort(reverse=True)</a:t>
            </a:r>
            <a:br/>
            <a:r>
              <a:t># [95, 88, 79, 72, 64]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325880"/>
            <a:ext cx="333756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0" y="1325880"/>
            <a:ext cx="73152" cy="475488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0" y="155448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Remember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075688"/>
            <a:ext cx="28346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sort() changes the list itself.</a:t>
            </a:r>
            <a:br/>
            <a:br/>
            <a:r>
              <a:t>reverse() can reverse the current order.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13. Useful List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You don't need to memorize everything today.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0292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2646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C63DC"/>
                </a:solidFill>
                <a:latin typeface="Consolas"/>
              </a:defRPr>
            </a:pPr>
            <a:r>
              <a:t>len(list)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426463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A323E"/>
                </a:solidFill>
                <a:latin typeface="Aptos"/>
              </a:defRPr>
            </a:pPr>
            <a:r>
              <a:t>Number of elements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0292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42646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C63DC"/>
                </a:solidFill>
                <a:latin typeface="Consolas"/>
              </a:defRPr>
            </a:pPr>
            <a:r>
              <a:t>append(x)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426463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A323E"/>
                </a:solidFill>
                <a:latin typeface="Aptos"/>
              </a:defRPr>
            </a:pPr>
            <a:r>
              <a:t>Add to 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194560"/>
            <a:ext cx="50292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3408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C63DC"/>
                </a:solidFill>
                <a:latin typeface="Consolas"/>
              </a:defRPr>
            </a:pPr>
            <a:r>
              <a:t>insert(i, 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3408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A323E"/>
                </a:solidFill>
                <a:latin typeface="Aptos"/>
              </a:defRPr>
            </a:pPr>
            <a:r>
              <a:t>Add at position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194560"/>
            <a:ext cx="50292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23408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C63DC"/>
                </a:solidFill>
                <a:latin typeface="Consolas"/>
              </a:defRPr>
            </a:pPr>
            <a:r>
              <a:t>remove(x)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408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A323E"/>
                </a:solidFill>
                <a:latin typeface="Aptos"/>
              </a:defRPr>
            </a:pPr>
            <a:r>
              <a:t>Remove by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108960"/>
            <a:ext cx="50292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32552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C63DC"/>
                </a:solidFill>
                <a:latin typeface="Consolas"/>
              </a:defRPr>
            </a:pPr>
            <a:r>
              <a:t>pop(i)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2552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A323E"/>
                </a:solidFill>
                <a:latin typeface="Aptos"/>
              </a:defRPr>
            </a:pPr>
            <a:r>
              <a:t>Remove by index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108960"/>
            <a:ext cx="50292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32552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C63DC"/>
                </a:solidFill>
                <a:latin typeface="Consolas"/>
              </a:defRPr>
            </a:pPr>
            <a:r>
              <a:t>sort()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2552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A323E"/>
                </a:solidFill>
                <a:latin typeface="Aptos"/>
              </a:defRPr>
            </a:pPr>
            <a:r>
              <a:t>Sort list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023360"/>
            <a:ext cx="50292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41696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C63DC"/>
                </a:solidFill>
                <a:latin typeface="Consolas"/>
              </a:defRPr>
            </a:pPr>
            <a:r>
              <a:t>reverse()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1696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A323E"/>
                </a:solidFill>
                <a:latin typeface="Aptos"/>
              </a:defRPr>
            </a:pPr>
            <a:r>
              <a:t>Reverse list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023360"/>
            <a:ext cx="50292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41696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C63DC"/>
                </a:solidFill>
                <a:latin typeface="Consolas"/>
              </a:defRPr>
            </a:pPr>
            <a:r>
              <a:t>index(x)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1696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A323E"/>
                </a:solidFill>
                <a:latin typeface="Aptos"/>
              </a:defRPr>
            </a:pPr>
            <a:r>
              <a:t>Find position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937760"/>
            <a:ext cx="50292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" y="50840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C63DC"/>
                </a:solidFill>
                <a:latin typeface="Consolas"/>
              </a:defRPr>
            </a:pPr>
            <a:r>
              <a:t>count(x)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0840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A323E"/>
                </a:solidFill>
                <a:latin typeface="Aptos"/>
              </a:defRPr>
            </a:pPr>
            <a:r>
              <a:t>Count occurrences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937760"/>
            <a:ext cx="50292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46520" y="50840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C63DC"/>
                </a:solidFill>
                <a:latin typeface="Consolas"/>
              </a:defRPr>
            </a:pPr>
            <a:r>
              <a:t>x in list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0840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A323E"/>
                </a:solidFill>
                <a:latin typeface="Aptos"/>
              </a:defRPr>
            </a:pPr>
            <a:r>
              <a:t>Check membership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14. Practical Example — Total 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Combine lists, loops, and arithmetic.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6583680" cy="475488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475488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6080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BF1F9"/>
                </a:solidFill>
                <a:latin typeface="Consolas"/>
              </a:defRPr>
            </a:pPr>
            <a:r>
              <a:t>marks = [85, 72, 91, 64, 78]</a:t>
            </a:r>
            <a:br/>
            <a:br/>
            <a:r>
              <a:t>total = 0</a:t>
            </a:r>
            <a:br/>
            <a:br/>
            <a:r>
              <a:t>for mark in marks:</a:t>
            </a:r>
            <a:br/>
            <a:r>
              <a:t>    total += mark</a:t>
            </a:r>
            <a:br/>
            <a:br/>
            <a:r>
              <a:t>print("Total:", total)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325880"/>
            <a:ext cx="356616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543800" y="1325880"/>
            <a:ext cx="73152" cy="475488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18120" y="1554480"/>
            <a:ext cx="30632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Key 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075688"/>
            <a:ext cx="30632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Start with an accumulator:</a:t>
            </a:r>
            <a:br/>
            <a:br/>
            <a:r>
              <a:t>total = 0</a:t>
            </a:r>
            <a:br/>
            <a:br/>
            <a:r>
              <a:t>Update it for every item.</a:t>
            </a:r>
            <a:br/>
            <a:br/>
            <a:r>
              <a:t>This pattern is fundamental to data processing.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15. Practice 1 &amp;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Start with indexing and modification.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73152" cy="448056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Task 1 — Create a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Create a list containing 5 programming languages.</a:t>
            </a:r>
            <a:br/>
            <a:br/>
            <a:r>
              <a:t>Print each language on a separate 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371600"/>
            <a:ext cx="73152" cy="448056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Task 2 — Access Elements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21408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Use:</a:t>
            </a:r>
            <a:br/>
            <a:r>
              <a:t>numbers = [10, 20, 30, 40, 50]</a:t>
            </a:r>
            <a:br/>
            <a:br/>
            <a:r>
              <a:t>Print first, last, and third elements.</a:t>
            </a:r>
            <a:br/>
            <a:br/>
            <a:r>
              <a:t>Try positive and negative indexes.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16. Practice 3 &amp;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Practice modifying and managing list contents.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73152" cy="448056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Task 3 — Modify a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Start with:</a:t>
            </a:r>
            <a:br/>
            <a:r>
              <a:t>fruits = ["Apple", "Banana", "Mango"]</a:t>
            </a:r>
            <a:br/>
            <a:br/>
            <a:r>
              <a:t>Change Banana → Orange.</a:t>
            </a:r>
            <a:br/>
            <a:br/>
            <a:r>
              <a:t>Print the result.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371600"/>
            <a:ext cx="73152" cy="448056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Task 4 — Add &amp; Remove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21408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Start with:</a:t>
            </a:r>
            <a:br/>
            <a:r>
              <a:t>students = ["Arun", "Rahul", "Anu"]</a:t>
            </a:r>
            <a:br/>
            <a:br/>
            <a:r>
              <a:t>1. Add John</a:t>
            </a:r>
            <a:br/>
            <a:r>
              <a:t>2. Insert Maria at index 1</a:t>
            </a:r>
            <a:br/>
            <a:r>
              <a:t>3. Remove Rahul</a:t>
            </a:r>
            <a:br/>
            <a:r>
              <a:t>4. Print final list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17. Practice 5 &amp;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Now combine lists with loops.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73152" cy="448056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Task 5 — Total Marks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marks = [85, 72, 91, 64, 78]</a:t>
            </a:r>
            <a:br/>
            <a:br/>
            <a:r>
              <a:t>Use a loop to print every mark and calculate the total.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371600"/>
            <a:ext cx="73152" cy="448056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Task 6 — Largest 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21408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numbers = [23, 56, 12, 89, 34, 67]</a:t>
            </a:r>
            <a:br/>
            <a:br/>
            <a:r>
              <a:t>Find the largest number.</a:t>
            </a:r>
            <a:br/>
            <a:br/>
            <a:r>
              <a:t>Try without using max().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18. Challenge ⭐ — Student Marks Analyzer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Combine Days 1–4.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1208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48006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75688"/>
            <a:ext cx="47091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marks = [85, 72, 91, 64, 78, 88, 55]</a:t>
            </a:r>
            <a:br/>
            <a:br/>
            <a:r>
              <a:t>Calculate:</a:t>
            </a:r>
            <a:br/>
            <a:r>
              <a:t>• Total marks</a:t>
            </a:r>
            <a:br/>
            <a:r>
              <a:t>• Average marks</a:t>
            </a:r>
            <a:br/>
            <a:r>
              <a:t>• Highest mark</a:t>
            </a:r>
            <a:br/>
            <a:r>
              <a:t>• Lowest mark</a:t>
            </a:r>
            <a:br/>
            <a:r>
              <a:t>• Number of students</a:t>
            </a:r>
            <a:br/>
            <a:br/>
            <a:r>
              <a:t>Try without sum(), max(), or min().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349240" cy="480060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325880"/>
            <a:ext cx="73152" cy="48006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554480"/>
            <a:ext cx="4846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BF1F9"/>
                </a:solidFill>
                <a:latin typeface="Consolas"/>
              </a:defRPr>
            </a:pPr>
            <a:r>
              <a:t>total = 0</a:t>
            </a:r>
            <a:br/>
            <a:r>
              <a:t>highest = marks[0]</a:t>
            </a:r>
            <a:br/>
            <a:r>
              <a:t>lowest = marks[0]</a:t>
            </a:r>
            <a:br/>
            <a:br/>
            <a:r>
              <a:t>for mark in marks:</a:t>
            </a:r>
            <a:br/>
            <a:r>
              <a:t>    total += mark</a:t>
            </a:r>
            <a:br/>
            <a:r>
              <a:t>    # compare mark with highest</a:t>
            </a:r>
            <a:br/>
            <a:r>
              <a:t>    # compare mark with lowest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3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Day 4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8D2E1"/>
                </a:solidFill>
                <a:latin typeface="Aptos"/>
              </a:defRPr>
            </a:pPr>
            <a:r>
              <a:t>Lists are the first major collection type in our Python journey.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25880"/>
            <a:ext cx="9784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Creating lists</a:t>
            </a:r>
          </a:p>
          <a:p>
            <a:pPr>
              <a:spcAft>
                <a:spcPts val="9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Indexing and negative indexing</a:t>
            </a:r>
          </a:p>
          <a:p>
            <a:pPr>
              <a:spcAft>
                <a:spcPts val="9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Changing elements</a:t>
            </a:r>
          </a:p>
          <a:p>
            <a:pPr>
              <a:spcAft>
                <a:spcPts val="9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append(), insert(), remove(), pop()</a:t>
            </a:r>
          </a:p>
          <a:p>
            <a:pPr>
              <a:spcAft>
                <a:spcPts val="9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len() and membership with in</a:t>
            </a:r>
          </a:p>
          <a:p>
            <a:pPr>
              <a:spcAft>
                <a:spcPts val="9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Slicing</a:t>
            </a:r>
          </a:p>
          <a:p>
            <a:pPr>
              <a:spcAft>
                <a:spcPts val="9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Sorting</a:t>
            </a:r>
          </a:p>
          <a:p>
            <a:pPr>
              <a:spcAft>
                <a:spcPts val="9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Lists + loops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349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A0B4"/>
                </a:solidFill>
                <a:latin typeface="Aptos"/>
              </a:defRPr>
            </a:pPr>
            <a:r>
              <a:t>Next → Day 5: Tuples, Sets &amp; Dictionaries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Official Python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106070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73152" cy="2103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645920"/>
            <a:ext cx="101041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Python Lists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67128"/>
            <a:ext cx="10104119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Aligned with the official Python documentation for lists, list methods, indexing, slicing, and mutable sequences.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88620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C63DC"/>
                </a:solidFill>
                <a:latin typeface="Cascadia Mono"/>
              </a:defRPr>
            </a:pPr>
            <a:r>
              <a:t>docs.python.org/3/tutorial/introduction.html#lists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8056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C63DC"/>
                </a:solidFill>
                <a:latin typeface="Cascadia Mono"/>
              </a:defRPr>
            </a:pPr>
            <a:r>
              <a:t>docs.python.org/3/tutorial/datastructures.html#more-on-lists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1582</Words>
  <Application>Microsoft Office PowerPoint</Application>
  <PresentationFormat>Widescreen</PresentationFormat>
  <Paragraphs>170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Calibri</vt:lpstr>
      <vt:lpstr>Cascadia Mono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Yohan Saji</cp:lastModifiedBy>
  <cp:revision>2</cp:revision>
  <dcterms:created xsi:type="dcterms:W3CDTF">2013-01-27T09:14:16Z</dcterms:created>
  <dcterms:modified xsi:type="dcterms:W3CDTF">2026-08-13T07:08:02Z</dcterms:modified>
  <cp:category/>
</cp:coreProperties>
</file>